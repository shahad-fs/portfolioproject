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0" r:id="rId2"/>
    <p:sldId id="257" r:id="rId3"/>
    <p:sldId id="258" r:id="rId4"/>
    <p:sldId id="267" r:id="rId5"/>
    <p:sldId id="268" r:id="rId6"/>
    <p:sldId id="274" r:id="rId7"/>
    <p:sldId id="269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61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DED8"/>
    <a:srgbClr val="F5EDE0"/>
    <a:srgbClr val="FCF7F6"/>
    <a:srgbClr val="2C1810"/>
    <a:srgbClr val="F7D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27BD9D-9D9A-4412-8DA0-A6A2993EFBEF}" v="17" dt="2026-06-11T20:43:28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00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353B-E0EB-0D8F-44AE-7A3DF336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E1DF4-F589-3D2B-947D-9C8B65AFD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1A846-5ECD-B842-78C0-8C4E41DF1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E2EF5-7736-01F3-F22F-DCBC6F673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227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25AD-E998-DAC0-7281-909DDA2B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8C8D6-7337-E7B7-6602-C5ECE2249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0C3C1-FAFC-3573-CC47-593490701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9B18F-052B-6A57-4F38-784857F7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35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FA11-0BBA-CA37-D2DC-9541868A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55445-D050-F47E-ECCC-EDADA37D3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49BA5-D667-9CDE-14DB-AEC25807B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B0210-1D8C-5257-1B76-C4D235303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04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9212-6F7A-82E1-D507-5810325B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8EDB8-1635-1DE6-7078-DA01775A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D13C1-90E9-6784-0833-84A35E5FB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C7E9A-DE23-68F4-8113-EDE58BC41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28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7BA11-E2BA-7798-4BB4-0A9E8A61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BAF93-19D0-E50A-BE15-7077BD3FE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E3BFE-93EF-65C0-0359-A86F88028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863D8-30B8-894C-5B84-4BA2E5270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8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35C0-6783-E874-1624-CF53ACB9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F3D54-AA22-10D5-5545-91D23C60D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947F0-313E-EFB1-BF0C-8037F3BC5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5327F-F1B0-2E83-45C8-183BE597B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16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EDDC-9788-80A8-25C5-319ECDFC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8A41F-15F2-9BEC-AD2C-84E202F28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7F866-4524-5AB9-C406-4FB2A7B5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EA26-7B5B-6A5E-48D9-7489487AD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5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6F60-5E4F-0919-019A-D6FF44ED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0A98D-2DE1-0B12-D0D0-68A810DA5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26585-8249-4578-0362-DF2B08815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FCE55-8AC7-5499-05AD-F10234869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2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64CD-9C0A-DE0A-AC9F-7AC3F50D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2EBA3-EB96-A33E-D045-C1B917CC8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D2E31-1976-A4C6-9878-9B2428373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780E6-BEFA-BDE8-BD01-11A043BE7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46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29B3-2F24-835A-0C93-5A1B68E4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E05A8-65E6-6EA7-1079-920F48360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FBFDB-ECD8-D7A7-A447-E60F4B755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22328-E4B4-E7CE-B1B6-691BEEE99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22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7599-6236-4D31-8106-49CC7C6D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69476-60FC-BF99-39B3-0CA6571D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DD87B-62CE-6991-6381-D38C41D00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D5236-55FB-EBFD-AB0F-B1D13DE90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12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17E2-D830-64C3-55E2-C36F7C7E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651694-68CA-2EC9-2AF8-67541358B095}"/>
              </a:ext>
            </a:extLst>
          </p:cNvPr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01E60D-B210-BDC0-0ED2-391BE9F1783B}"/>
              </a:ext>
            </a:extLst>
          </p:cNvPr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C9612A">
              <a:alpha val="22000"/>
            </a:srgbClr>
          </a:solidFill>
          <a:ln w="12700">
            <a:solidFill>
              <a:srgbClr val="C9612A">
                <a:alpha val="2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AB7F0C-6727-E8CF-2C5F-3CD137DA405A}"/>
              </a:ext>
            </a:extLst>
          </p:cNvPr>
          <p:cNvSpPr/>
          <p:nvPr/>
        </p:nvSpPr>
        <p:spPr>
          <a:xfrm>
            <a:off x="457200" y="-457200"/>
            <a:ext cx="1828800" cy="1828800"/>
          </a:xfrm>
          <a:prstGeom prst="ellipse">
            <a:avLst/>
          </a:prstGeom>
          <a:solidFill>
            <a:srgbClr val="8B5E3C">
              <a:alpha val="30000"/>
            </a:srgbClr>
          </a:solidFill>
          <a:ln w="12700">
            <a:solidFill>
              <a:srgbClr val="8B5E3C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377E7D0-A03F-4CE1-23D2-557E7262E9B4}"/>
              </a:ext>
            </a:extLst>
          </p:cNvPr>
          <p:cNvSpPr/>
          <p:nvPr/>
        </p:nvSpPr>
        <p:spPr>
          <a:xfrm>
            <a:off x="182880" y="1783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Raouf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E06F25-CC2B-CF24-091E-F851E45A3685}"/>
              </a:ext>
            </a:extLst>
          </p:cNvPr>
          <p:cNvSpPr/>
          <p:nvPr/>
        </p:nvSpPr>
        <p:spPr>
          <a:xfrm>
            <a:off x="182880" y="2423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A89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عيادة رؤوف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A0F1718-5DCC-DD59-4AFB-A9113C97E456}"/>
              </a:ext>
            </a:extLst>
          </p:cNvPr>
          <p:cNvSpPr/>
          <p:nvPr/>
        </p:nvSpPr>
        <p:spPr>
          <a:xfrm>
            <a:off x="548640" y="2907792"/>
            <a:ext cx="2743200" cy="0"/>
          </a:xfrm>
          <a:prstGeom prst="line">
            <a:avLst/>
          </a:prstGeom>
          <a:noFill/>
          <a:ln w="25400">
            <a:solidFill>
              <a:srgbClr val="C961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B7488DA-66A3-2CA2-C7CB-901812EDC9EE}"/>
              </a:ext>
            </a:extLst>
          </p:cNvPr>
          <p:cNvSpPr/>
          <p:nvPr/>
        </p:nvSpPr>
        <p:spPr>
          <a:xfrm>
            <a:off x="18288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8A89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8DA47FB-3A34-0DF7-760A-D57D77326C07}"/>
              </a:ext>
            </a:extLst>
          </p:cNvPr>
          <p:cNvSpPr/>
          <p:nvPr/>
        </p:nvSpPr>
        <p:spPr>
          <a:xfrm>
            <a:off x="18288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7A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202</a:t>
            </a:r>
            <a:r>
              <a:rPr kumimoji="0" lang="ar-SA" sz="1200" b="0" i="0" u="none" strike="noStrike" kern="1200" cap="none" spc="0" normalizeH="0" baseline="0" noProof="0" dirty="0">
                <a:ln>
                  <a:noFill/>
                </a:ln>
                <a:solidFill>
                  <a:srgbClr val="9A7A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40701BE-5369-C932-1B0E-DDB4B8D3F8E9}"/>
              </a:ext>
            </a:extLst>
          </p:cNvPr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8A898">
              <a:alpha val="40000"/>
            </a:srgbClr>
          </a:solidFill>
          <a:ln w="12700">
            <a:solidFill>
              <a:srgbClr val="E8A898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1D6CFF5-CFD9-8C6B-785B-0B5018C41F18}"/>
              </a:ext>
            </a:extLst>
          </p:cNvPr>
          <p:cNvSpPr/>
          <p:nvPr/>
        </p:nvSpPr>
        <p:spPr>
          <a:xfrm>
            <a:off x="4160520" y="4114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C181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Virtual Veterinary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C181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Platform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BA85FD-E81A-F14E-F12B-5767BD87787B}"/>
              </a:ext>
            </a:extLst>
          </p:cNvPr>
          <p:cNvSpPr/>
          <p:nvPr/>
        </p:nvSpPr>
        <p:spPr>
          <a:xfrm>
            <a:off x="4160520" y="2240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6A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pet owners with licensed veterinarians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6A5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anytime, from home.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7278C46-990A-1040-1299-CD673C78550A}"/>
              </a:ext>
            </a:extLst>
          </p:cNvPr>
          <p:cNvSpPr/>
          <p:nvPr/>
        </p:nvSpPr>
        <p:spPr>
          <a:xfrm>
            <a:off x="4160520" y="3154680"/>
            <a:ext cx="4754880" cy="1600200"/>
          </a:xfrm>
          <a:prstGeom prst="roundRect">
            <a:avLst>
              <a:gd name="adj" fmla="val 8571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1226DFE-63CC-7507-37B5-E500C3BB832E}"/>
              </a:ext>
            </a:extLst>
          </p:cNvPr>
          <p:cNvSpPr/>
          <p:nvPr/>
        </p:nvSpPr>
        <p:spPr>
          <a:xfrm>
            <a:off x="4343400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961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ED24001-0CCC-E114-F5E8-F5F5AE8E4156}"/>
              </a:ext>
            </a:extLst>
          </p:cNvPr>
          <p:cNvSpPr/>
          <p:nvPr/>
        </p:nvSpPr>
        <p:spPr>
          <a:xfrm>
            <a:off x="4343400" y="3703320"/>
            <a:ext cx="21488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33DB560-E03B-F4A9-2134-B0F3927F9A3F}"/>
              </a:ext>
            </a:extLst>
          </p:cNvPr>
          <p:cNvSpPr/>
          <p:nvPr/>
        </p:nvSpPr>
        <p:spPr>
          <a:xfrm>
            <a:off x="4434840" y="3785616"/>
            <a:ext cx="310896" cy="310896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93F0895-1BD1-D443-7D59-46C336F02140}"/>
              </a:ext>
            </a:extLst>
          </p:cNvPr>
          <p:cNvSpPr/>
          <p:nvPr/>
        </p:nvSpPr>
        <p:spPr>
          <a:xfrm>
            <a:off x="44348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D723B41-DE21-9D21-C39C-CEF38A7D7CFF}"/>
              </a:ext>
            </a:extLst>
          </p:cNvPr>
          <p:cNvSpPr/>
          <p:nvPr/>
        </p:nvSpPr>
        <p:spPr>
          <a:xfrm>
            <a:off x="4818888" y="3739896"/>
            <a:ext cx="1600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Shahad Fahad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Alsaneea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4E63CB6-DCAB-D4B5-E82C-52F282861127}"/>
              </a:ext>
            </a:extLst>
          </p:cNvPr>
          <p:cNvSpPr/>
          <p:nvPr/>
        </p:nvSpPr>
        <p:spPr>
          <a:xfrm>
            <a:off x="4818888" y="3950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7796556-CEAE-E802-6547-2D3FBFC6EE44}"/>
              </a:ext>
            </a:extLst>
          </p:cNvPr>
          <p:cNvSpPr/>
          <p:nvPr/>
        </p:nvSpPr>
        <p:spPr>
          <a:xfrm>
            <a:off x="6675120" y="3703320"/>
            <a:ext cx="21488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5535B5D-B257-1D45-B47E-E16AA50009CA}"/>
              </a:ext>
            </a:extLst>
          </p:cNvPr>
          <p:cNvSpPr/>
          <p:nvPr/>
        </p:nvSpPr>
        <p:spPr>
          <a:xfrm>
            <a:off x="6766560" y="3785616"/>
            <a:ext cx="310896" cy="310896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09FBEDA-A808-C65A-7533-E26EF1BC0B0F}"/>
              </a:ext>
            </a:extLst>
          </p:cNvPr>
          <p:cNvSpPr/>
          <p:nvPr/>
        </p:nvSpPr>
        <p:spPr>
          <a:xfrm>
            <a:off x="67665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CE5E8BE-D3BB-6BCE-A59D-4EC35F7AAA55}"/>
              </a:ext>
            </a:extLst>
          </p:cNvPr>
          <p:cNvSpPr/>
          <p:nvPr/>
        </p:nvSpPr>
        <p:spPr>
          <a:xfrm>
            <a:off x="7150608" y="373989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C18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Shadan Khaled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2C18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Alkharji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F356CB5-81DD-75FD-4B8B-460309CBECB8}"/>
              </a:ext>
            </a:extLst>
          </p:cNvPr>
          <p:cNvSpPr/>
          <p:nvPr/>
        </p:nvSpPr>
        <p:spPr>
          <a:xfrm>
            <a:off x="7150608" y="3950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9EDA445-826B-7A61-76A5-EDED31744765}"/>
              </a:ext>
            </a:extLst>
          </p:cNvPr>
          <p:cNvSpPr/>
          <p:nvPr/>
        </p:nvSpPr>
        <p:spPr>
          <a:xfrm>
            <a:off x="4343400" y="4270248"/>
            <a:ext cx="21488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3A88A9B5-3FA7-7430-EC82-A2B3CEC3C55D}"/>
              </a:ext>
            </a:extLst>
          </p:cNvPr>
          <p:cNvSpPr/>
          <p:nvPr/>
        </p:nvSpPr>
        <p:spPr>
          <a:xfrm>
            <a:off x="4434840" y="4352544"/>
            <a:ext cx="310896" cy="310896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228AF9-DE88-2370-801B-A96A95E0E870}"/>
              </a:ext>
            </a:extLst>
          </p:cNvPr>
          <p:cNvSpPr/>
          <p:nvPr/>
        </p:nvSpPr>
        <p:spPr>
          <a:xfrm>
            <a:off x="443484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5DB653C-3AE4-A304-7760-C0E438DA5DD7}"/>
              </a:ext>
            </a:extLst>
          </p:cNvPr>
          <p:cNvSpPr/>
          <p:nvPr/>
        </p:nvSpPr>
        <p:spPr>
          <a:xfrm>
            <a:off x="4818888" y="4306824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Lina Abdulaziz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Alduaylij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3700B12-72FC-F37C-D0D8-EE6DEB35906C}"/>
              </a:ext>
            </a:extLst>
          </p:cNvPr>
          <p:cNvSpPr/>
          <p:nvPr/>
        </p:nvSpPr>
        <p:spPr>
          <a:xfrm>
            <a:off x="4818888" y="45171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CB2FAA2F-A655-59E3-CF48-272A6DE961DF}"/>
              </a:ext>
            </a:extLst>
          </p:cNvPr>
          <p:cNvSpPr/>
          <p:nvPr/>
        </p:nvSpPr>
        <p:spPr>
          <a:xfrm>
            <a:off x="6675120" y="4270248"/>
            <a:ext cx="21488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3066518D-6EE0-BA94-C945-99A3A3EA05B3}"/>
              </a:ext>
            </a:extLst>
          </p:cNvPr>
          <p:cNvSpPr/>
          <p:nvPr/>
        </p:nvSpPr>
        <p:spPr>
          <a:xfrm>
            <a:off x="6766560" y="4352544"/>
            <a:ext cx="310896" cy="310896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F2722488-760A-5C16-CB95-46F7E5AB6793}"/>
              </a:ext>
            </a:extLst>
          </p:cNvPr>
          <p:cNvSpPr/>
          <p:nvPr/>
        </p:nvSpPr>
        <p:spPr>
          <a:xfrm>
            <a:off x="67665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👤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AEAD3FC-2B6D-8647-3089-9F000A9F8048}"/>
              </a:ext>
            </a:extLst>
          </p:cNvPr>
          <p:cNvSpPr/>
          <p:nvPr/>
        </p:nvSpPr>
        <p:spPr>
          <a:xfrm>
            <a:off x="7150608" y="4306824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C18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Alanoud Mohsen Alharthi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0B24212-BAB0-E2FE-9708-6ECCE2B1B9B2}"/>
              </a:ext>
            </a:extLst>
          </p:cNvPr>
          <p:cNvSpPr/>
          <p:nvPr/>
        </p:nvSpPr>
        <p:spPr>
          <a:xfrm>
            <a:off x="7150608" y="45171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EB59C5D-B85B-BEE3-4B27-BDDD784E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865" y="542901"/>
            <a:ext cx="1228749" cy="122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1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MVP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E8A898">
              <a:alpha val="35000"/>
            </a:srgbClr>
          </a:solidFill>
          <a:ln w="12700">
            <a:solidFill>
              <a:srgbClr val="E8A89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C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explored several project ideas and evaluated them based 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56032" cy="256032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824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/>
              <a:t>Feasibility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256032" cy="256032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complexity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256032" cy="256032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5478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timeframe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1143000"/>
            <a:ext cx="3017520" cy="3566160"/>
          </a:xfrm>
          <a:prstGeom prst="roundRect">
            <a:avLst>
              <a:gd name="adj" fmla="val 4545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1261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9320" y="181051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as pet owners or veterinarians.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9320" y="23225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for veterinarians.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28346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Communicate through messaging or video consultations.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89320" y="33467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Browse pets available for adoption.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38587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 adoption providers directly.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stages, decisions &amp; challenges throughout the project journey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74520" y="2029968"/>
            <a:ext cx="274320" cy="0"/>
          </a:xfrm>
          <a:prstGeom prst="line">
            <a:avLst/>
          </a:prstGeom>
          <a:noFill/>
          <a:ln w="25400">
            <a:solidFill>
              <a:srgbClr val="E8A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68680" cy="868680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27048"/>
            <a:ext cx="649224" cy="649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852928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r>
              <a:rPr lang="en-US" sz="1100" b="1" dirty="0"/>
              <a:t>Brainstormed multiple project </a:t>
            </a:r>
            <a:r>
              <a:rPr lang="en-US" sz="1100" b="1" dirty="0" err="1"/>
              <a:t>ideas.Identified</a:t>
            </a:r>
            <a:r>
              <a:rPr lang="en-US" sz="1100" b="1" dirty="0"/>
              <a:t> real problems faced by pet </a:t>
            </a:r>
            <a:r>
              <a:rPr lang="en-US" sz="1100" b="1" dirty="0" err="1"/>
              <a:t>owners.Evaluated</a:t>
            </a:r>
            <a:r>
              <a:rPr lang="en-US" sz="1100" b="1" dirty="0"/>
              <a:t> ideas based on impact and feasibility.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2029968"/>
            <a:ext cx="274320" cy="0"/>
          </a:xfrm>
          <a:prstGeom prst="line">
            <a:avLst/>
          </a:prstGeom>
          <a:noFill/>
          <a:ln w="25400">
            <a:solidFill>
              <a:srgbClr val="E8A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3160" y="1417320"/>
            <a:ext cx="868680" cy="868680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527048"/>
            <a:ext cx="649224" cy="6492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148840" y="2852928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r>
              <a:rPr lang="en-US" sz="1200" b="1" dirty="0"/>
              <a:t>Selected </a:t>
            </a:r>
            <a:r>
              <a:rPr lang="en-US" sz="1200" b="1" dirty="0" err="1"/>
              <a:t>PawCare</a:t>
            </a:r>
            <a:r>
              <a:rPr lang="en-US" sz="1200" b="1" dirty="0"/>
              <a:t> as the </a:t>
            </a:r>
            <a:r>
              <a:rPr lang="en-US" sz="1200" b="1" dirty="0" err="1"/>
              <a:t>MVP.Defined</a:t>
            </a:r>
            <a:r>
              <a:rPr lang="en-US" sz="1200" b="1" dirty="0"/>
              <a:t> project scope and core </a:t>
            </a:r>
            <a:r>
              <a:rPr lang="en-US" sz="1200" b="1" dirty="0" err="1"/>
              <a:t>features.Assigned</a:t>
            </a:r>
            <a:r>
              <a:rPr lang="en-US" sz="1200" b="1" dirty="0"/>
              <a:t> team roles and responsibilities.</a:t>
            </a:r>
          </a:p>
        </p:txBody>
      </p:sp>
      <p:sp>
        <p:nvSpPr>
          <p:cNvPr id="15" name="Text 11"/>
          <p:cNvSpPr/>
          <p:nvPr/>
        </p:nvSpPr>
        <p:spPr>
          <a:xfrm>
            <a:off x="2240280" y="2944368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257800" y="2029968"/>
            <a:ext cx="274320" cy="0"/>
          </a:xfrm>
          <a:prstGeom prst="line">
            <a:avLst/>
          </a:prstGeom>
          <a:noFill/>
          <a:ln w="25400">
            <a:solidFill>
              <a:srgbClr val="E8A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114800" y="1417320"/>
            <a:ext cx="868680" cy="868680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527048"/>
            <a:ext cx="649224" cy="6492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840480" y="2852928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r>
              <a:rPr lang="en-US" sz="1100" b="1" dirty="0"/>
              <a:t>Built the frontend and </a:t>
            </a:r>
            <a:r>
              <a:rPr lang="en-US" sz="1100" b="1" dirty="0" err="1"/>
              <a:t>backend.Implemented</a:t>
            </a:r>
            <a:r>
              <a:rPr lang="en-US" sz="1100" b="1" dirty="0"/>
              <a:t> authentication and user </a:t>
            </a:r>
            <a:r>
              <a:rPr lang="en-US" sz="1100" b="1" dirty="0" err="1"/>
              <a:t>roles.Developed</a:t>
            </a:r>
            <a:r>
              <a:rPr lang="en-US" sz="1100" b="1" dirty="0"/>
              <a:t> messaging, consultations, and adoption features.</a:t>
            </a:r>
          </a:p>
        </p:txBody>
      </p:sp>
      <p:sp>
        <p:nvSpPr>
          <p:cNvPr id="21" name="Text 16"/>
          <p:cNvSpPr/>
          <p:nvPr/>
        </p:nvSpPr>
        <p:spPr>
          <a:xfrm>
            <a:off x="3931920" y="2944368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49440" y="2029968"/>
            <a:ext cx="274320" cy="0"/>
          </a:xfrm>
          <a:prstGeom prst="line">
            <a:avLst/>
          </a:prstGeom>
          <a:noFill/>
          <a:ln w="25400">
            <a:solidFill>
              <a:srgbClr val="E8A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806440" y="1417320"/>
            <a:ext cx="868680" cy="868680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1527048"/>
            <a:ext cx="649224" cy="6492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532120" y="2852928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r>
              <a:rPr lang="en-US" sz="1200" b="1" dirty="0"/>
              <a:t>Tested major </a:t>
            </a:r>
            <a:r>
              <a:rPr lang="en-US" sz="1200" b="1" dirty="0" err="1"/>
              <a:t>functionalities.Fixed</a:t>
            </a:r>
            <a:r>
              <a:rPr lang="en-US" sz="1200" b="1" dirty="0"/>
              <a:t> bugs and improved user </a:t>
            </a:r>
            <a:r>
              <a:rPr lang="en-US" sz="1200" b="1" dirty="0" err="1"/>
              <a:t>experience.Verified</a:t>
            </a:r>
            <a:r>
              <a:rPr lang="en-US" sz="1200" b="1" dirty="0"/>
              <a:t> system performance and usability.</a:t>
            </a:r>
          </a:p>
        </p:txBody>
      </p:sp>
      <p:sp>
        <p:nvSpPr>
          <p:cNvPr id="27" name="Text 21"/>
          <p:cNvSpPr/>
          <p:nvPr/>
        </p:nvSpPr>
        <p:spPr>
          <a:xfrm>
            <a:off x="5623560" y="2944368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498080" y="1417320"/>
            <a:ext cx="868680" cy="868680"/>
          </a:xfrm>
          <a:prstGeom prst="ellipse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527048"/>
            <a:ext cx="649224" cy="6492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2376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223760" y="2852928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r>
              <a:rPr lang="en-US" sz="1200" b="1" dirty="0"/>
              <a:t>Prepared the final </a:t>
            </a:r>
            <a:r>
              <a:rPr lang="en-US" sz="1200" b="1" dirty="0" err="1"/>
              <a:t>MVP.Deployed</a:t>
            </a:r>
            <a:r>
              <a:rPr lang="en-US" sz="1200" b="1" dirty="0"/>
              <a:t> the application for </a:t>
            </a:r>
            <a:r>
              <a:rPr lang="en-US" sz="1200" b="1" dirty="0" err="1"/>
              <a:t>demonstration.Documented</a:t>
            </a:r>
            <a:r>
              <a:rPr lang="en-US" sz="1200" b="1" dirty="0"/>
              <a:t> the project and presentation materials.</a:t>
            </a:r>
          </a:p>
        </p:txBody>
      </p:sp>
      <p:sp>
        <p:nvSpPr>
          <p:cNvPr id="32" name="Text 25"/>
          <p:cNvSpPr/>
          <p:nvPr/>
        </p:nvSpPr>
        <p:spPr>
          <a:xfrm>
            <a:off x="7315200" y="2944368"/>
            <a:ext cx="1325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804672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CFD9E-F10E-B73D-4539-629D03F9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1C2AC2-AD1C-4712-37E8-210F49FF122F}"/>
              </a:ext>
            </a:extLst>
          </p:cNvPr>
          <p:cNvSpPr/>
          <p:nvPr/>
        </p:nvSpPr>
        <p:spPr>
          <a:xfrm>
            <a:off x="910148" y="1376207"/>
            <a:ext cx="6065520" cy="130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2800" b="1" dirty="0">
                <a:solidFill>
                  <a:srgbClr val="2C1810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Architecture &amp; Engineering Highlights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896BCB-C5BC-509B-BAE8-5A571EDC47D4}"/>
              </a:ext>
            </a:extLst>
          </p:cNvPr>
          <p:cNvSpPr/>
          <p:nvPr/>
        </p:nvSpPr>
        <p:spPr>
          <a:xfrm>
            <a:off x="950788" y="2502951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60000"/>
              </a:lnSpc>
            </a:pPr>
            <a:r>
              <a:rPr lang="en-US" sz="1400" dirty="0">
                <a:solidFill>
                  <a:srgbClr val="8B5E3C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 Scalable, Secure, and Real-Time Full-Stack Tele-Veterinary Solution</a:t>
            </a:r>
            <a:endParaRPr lang="en-US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209188C-3A58-AE65-1DE0-43EA0641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547F812-7600-B739-951A-B9BB094512B7}"/>
              </a:ext>
            </a:extLst>
          </p:cNvPr>
          <p:cNvGrpSpPr/>
          <p:nvPr/>
        </p:nvGrpSpPr>
        <p:grpSpPr>
          <a:xfrm>
            <a:off x="639016" y="1212638"/>
            <a:ext cx="1526836" cy="230832"/>
            <a:chOff x="589280" y="1029652"/>
            <a:chExt cx="1526836" cy="2308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E6D2A7F-BFCE-2515-7F2B-95C984699CAB}"/>
                </a:ext>
              </a:extLst>
            </p:cNvPr>
            <p:cNvSpPr/>
            <p:nvPr/>
          </p:nvSpPr>
          <p:spPr>
            <a:xfrm>
              <a:off x="589281" y="1029652"/>
              <a:ext cx="1441775" cy="230832"/>
            </a:xfrm>
            <a:prstGeom prst="roundRect">
              <a:avLst>
                <a:gd name="adj" fmla="val 45608"/>
              </a:avLst>
            </a:prstGeom>
            <a:solidFill>
              <a:srgbClr val="2C181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9360CC-3AF7-4EA9-B13D-E32DDBF9E74F}"/>
                </a:ext>
              </a:extLst>
            </p:cNvPr>
            <p:cNvSpPr txBox="1"/>
            <p:nvPr/>
          </p:nvSpPr>
          <p:spPr>
            <a:xfrm>
              <a:off x="589280" y="1029652"/>
              <a:ext cx="152683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solidFill>
                    <a:srgbClr val="F5EDE0"/>
                  </a:solidFill>
                </a:rPr>
                <a:t>TECHNICAL ARCHITECTURE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139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12C90-E247-F705-DE65-C8FF46DB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BDB19FEE-8D3F-C602-7574-92AF62BF2806}"/>
              </a:ext>
            </a:extLst>
          </p:cNvPr>
          <p:cNvSpPr/>
          <p:nvPr/>
        </p:nvSpPr>
        <p:spPr>
          <a:xfrm>
            <a:off x="905984" y="2125955"/>
            <a:ext cx="4660381" cy="1826836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B27628C-12B2-574F-9FD8-1B11B7B4A12E}"/>
              </a:ext>
            </a:extLst>
          </p:cNvPr>
          <p:cNvSpPr/>
          <p:nvPr/>
        </p:nvSpPr>
        <p:spPr>
          <a:xfrm>
            <a:off x="5701386" y="3658624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46AA363-0956-4D6A-D4D9-FD7B10051E2D}"/>
              </a:ext>
            </a:extLst>
          </p:cNvPr>
          <p:cNvSpPr/>
          <p:nvPr/>
        </p:nvSpPr>
        <p:spPr>
          <a:xfrm>
            <a:off x="5701386" y="3073956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5C86C90-1149-1BA5-F408-CE38349B3169}"/>
              </a:ext>
            </a:extLst>
          </p:cNvPr>
          <p:cNvSpPr/>
          <p:nvPr/>
        </p:nvSpPr>
        <p:spPr>
          <a:xfrm>
            <a:off x="5701386" y="2489288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8C3E49B-BCDE-3C59-3F92-F2A17610E17C}"/>
              </a:ext>
            </a:extLst>
          </p:cNvPr>
          <p:cNvSpPr/>
          <p:nvPr/>
        </p:nvSpPr>
        <p:spPr>
          <a:xfrm>
            <a:off x="5701386" y="2196954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oogle Shape;96;p14" descr="image.png">
            <a:extLst>
              <a:ext uri="{FF2B5EF4-FFF2-40B4-BE49-F238E27FC236}">
                <a16:creationId xmlns:a16="http://schemas.microsoft.com/office/drawing/2014/main" id="{593BDFE3-E4BB-C119-4F5D-7156E6911C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6086326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4;p14">
            <a:extLst>
              <a:ext uri="{FF2B5EF4-FFF2-40B4-BE49-F238E27FC236}">
                <a16:creationId xmlns:a16="http://schemas.microsoft.com/office/drawing/2014/main" id="{9990AE0B-4515-4F1B-D9C1-161C20E5392D}"/>
              </a:ext>
            </a:extLst>
          </p:cNvPr>
          <p:cNvSpPr txBox="1"/>
          <p:nvPr/>
        </p:nvSpPr>
        <p:spPr>
          <a:xfrm>
            <a:off x="1077434" y="476250"/>
            <a:ext cx="1122140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2C1810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FULL-STACK ARCHITECTURE OVERVIEW</a:t>
            </a:r>
            <a:endParaRPr b="1" dirty="0"/>
          </a:p>
        </p:txBody>
      </p:sp>
      <p:sp>
        <p:nvSpPr>
          <p:cNvPr id="29" name="Google Shape;105;p14">
            <a:extLst>
              <a:ext uri="{FF2B5EF4-FFF2-40B4-BE49-F238E27FC236}">
                <a16:creationId xmlns:a16="http://schemas.microsoft.com/office/drawing/2014/main" id="{703DDA42-6463-EA84-FE40-13D8FCF23503}"/>
              </a:ext>
            </a:extLst>
          </p:cNvPr>
          <p:cNvSpPr/>
          <p:nvPr/>
        </p:nvSpPr>
        <p:spPr>
          <a:xfrm>
            <a:off x="905984" y="476250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07;p14">
            <a:extLst>
              <a:ext uri="{FF2B5EF4-FFF2-40B4-BE49-F238E27FC236}">
                <a16:creationId xmlns:a16="http://schemas.microsoft.com/office/drawing/2014/main" id="{0E9DC4B0-FA04-34AC-66F0-CF0B34E2A735}"/>
              </a:ext>
            </a:extLst>
          </p:cNvPr>
          <p:cNvSpPr txBox="1"/>
          <p:nvPr/>
        </p:nvSpPr>
        <p:spPr>
          <a:xfrm>
            <a:off x="11001375" y="6238726"/>
            <a:ext cx="523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8B5E3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02</a:t>
            </a:r>
            <a:endParaRPr dirty="0"/>
          </a:p>
        </p:txBody>
      </p:sp>
      <p:sp>
        <p:nvSpPr>
          <p:cNvPr id="38" name="Google Shape;108;p14">
            <a:extLst>
              <a:ext uri="{FF2B5EF4-FFF2-40B4-BE49-F238E27FC236}">
                <a16:creationId xmlns:a16="http://schemas.microsoft.com/office/drawing/2014/main" id="{8B7100D2-4C0C-0B65-53E7-7EC41FE688DC}"/>
              </a:ext>
            </a:extLst>
          </p:cNvPr>
          <p:cNvSpPr txBox="1"/>
          <p:nvPr/>
        </p:nvSpPr>
        <p:spPr>
          <a:xfrm>
            <a:off x="1189556" y="1080121"/>
            <a:ext cx="5576570" cy="338554"/>
          </a:xfrm>
          <a:prstGeom prst="rect">
            <a:avLst/>
          </a:prstGeom>
          <a:solidFill>
            <a:srgbClr val="F5EDE0">
              <a:alpha val="70000"/>
            </a:srgbClr>
          </a:solidFill>
          <a:ln>
            <a:noFill/>
          </a:ln>
          <a:effectLst/>
        </p:spPr>
        <p:txBody>
          <a:bodyPr spcFirstLastPara="1" wrap="square" lIns="0" tIns="0" rIns="0" bIns="0" anchor="t" anchorCtr="0">
            <a:spAutoFit/>
          </a:bodyPr>
          <a:lstStyle/>
          <a:p>
            <a:pPr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4E392C">
                    <a:alpha val="70000"/>
                  </a:srgbClr>
                </a:solidFill>
                <a:latin typeface="Plus Jakarta Sans"/>
                <a:cs typeface="Plus Jakarta Sans"/>
                <a:sym typeface="Plus Jakarta Sans"/>
              </a:rPr>
              <a:t>The system implements a decoupled multi-tier topology separating the client interaction, asynchronous application backend, and real-time network states.</a:t>
            </a:r>
            <a:endParaRPr sz="1100" dirty="0">
              <a:solidFill>
                <a:srgbClr val="4E392C">
                  <a:alpha val="70000"/>
                </a:srgbClr>
              </a:solidFill>
              <a:latin typeface="Plus Jakarta Sans"/>
              <a:cs typeface="Plus Jakarta Sans"/>
            </a:endParaRPr>
          </a:p>
        </p:txBody>
      </p:sp>
      <p:sp>
        <p:nvSpPr>
          <p:cNvPr id="40" name="Google Shape;109;p14">
            <a:extLst>
              <a:ext uri="{FF2B5EF4-FFF2-40B4-BE49-F238E27FC236}">
                <a16:creationId xmlns:a16="http://schemas.microsoft.com/office/drawing/2014/main" id="{E82C7549-8872-CD42-45AF-0550B34E3A24}"/>
              </a:ext>
            </a:extLst>
          </p:cNvPr>
          <p:cNvSpPr txBox="1"/>
          <p:nvPr/>
        </p:nvSpPr>
        <p:spPr>
          <a:xfrm>
            <a:off x="1484832" y="2465997"/>
            <a:ext cx="2725656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2C1810"/>
                </a:solidFill>
                <a:latin typeface="Space Grotesk"/>
                <a:ea typeface="Space Grotesk"/>
                <a:cs typeface="Space Grotesk"/>
                <a:sym typeface="Space Grotesk"/>
              </a:rPr>
              <a:t>Layer Architectural Separation</a:t>
            </a:r>
            <a:endParaRPr dirty="0"/>
          </a:p>
        </p:txBody>
      </p:sp>
      <p:sp>
        <p:nvSpPr>
          <p:cNvPr id="42" name="Google Shape;110;p14">
            <a:extLst>
              <a:ext uri="{FF2B5EF4-FFF2-40B4-BE49-F238E27FC236}">
                <a16:creationId xmlns:a16="http://schemas.microsoft.com/office/drawing/2014/main" id="{DD8D0B41-8076-0DB1-841C-853702098914}"/>
              </a:ext>
            </a:extLst>
          </p:cNvPr>
          <p:cNvSpPr txBox="1"/>
          <p:nvPr/>
        </p:nvSpPr>
        <p:spPr>
          <a:xfrm>
            <a:off x="1350812" y="2792821"/>
            <a:ext cx="3614582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81"/>
              </a:lnSpc>
            </a:pPr>
            <a:r>
              <a:rPr lang="en-US" sz="1100" dirty="0"/>
              <a:t>This architecture separates presentation, business logic, real-time communication, and data persistence layers, improving maintainability </a:t>
            </a:r>
            <a:r>
              <a:rPr lang="en-US" sz="1200" dirty="0"/>
              <a:t>and</a:t>
            </a:r>
            <a:r>
              <a:rPr lang="en-US" sz="1100" dirty="0"/>
              <a:t> scalability.</a:t>
            </a:r>
            <a:endParaRPr dirty="0"/>
          </a:p>
        </p:txBody>
      </p:sp>
      <p:pic>
        <p:nvPicPr>
          <p:cNvPr id="54" name="Google Shape;116;p14" descr="image.png">
            <a:extLst>
              <a:ext uri="{FF2B5EF4-FFF2-40B4-BE49-F238E27FC236}">
                <a16:creationId xmlns:a16="http://schemas.microsoft.com/office/drawing/2014/main" id="{DAFF7655-82C3-5F1A-E212-08402161F0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9556" y="2485155"/>
            <a:ext cx="2000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F34AFEE-0EF3-098A-42BB-20B687BA5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570" y="3116486"/>
            <a:ext cx="201168" cy="171663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4A1E040-BF42-25D9-3015-216F6F383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7570" y="3716378"/>
            <a:ext cx="201168" cy="14527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5C140AA-8D5D-D1B6-F45F-B94884C4A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7570" y="2238598"/>
            <a:ext cx="201168" cy="179127"/>
          </a:xfrm>
          <a:prstGeom prst="rect">
            <a:avLst/>
          </a:prstGeom>
        </p:spPr>
      </p:pic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D1D5885-5F4F-9625-AFA0-9C20F89BB6ED}"/>
              </a:ext>
            </a:extLst>
          </p:cNvPr>
          <p:cNvSpPr/>
          <p:nvPr/>
        </p:nvSpPr>
        <p:spPr>
          <a:xfrm>
            <a:off x="5701386" y="2781622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1018D30-F234-4825-5870-99FC37C1B1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7570" y="2824032"/>
            <a:ext cx="201168" cy="201168"/>
          </a:xfrm>
          <a:prstGeom prst="rect">
            <a:avLst/>
          </a:prstGeom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D416035-AAA7-D286-DEA3-F55427D274BC}"/>
              </a:ext>
            </a:extLst>
          </p:cNvPr>
          <p:cNvSpPr/>
          <p:nvPr/>
        </p:nvSpPr>
        <p:spPr>
          <a:xfrm>
            <a:off x="5701386" y="3366290"/>
            <a:ext cx="3195792" cy="258763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127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6714C94-078B-28B2-3DF5-651ECD053A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7570" y="3391989"/>
            <a:ext cx="176415" cy="201168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2ED2FC32-651A-8CA2-AFBF-C1C9B595FBB8}"/>
              </a:ext>
            </a:extLst>
          </p:cNvPr>
          <p:cNvSpPr txBox="1"/>
          <p:nvPr/>
        </p:nvSpPr>
        <p:spPr>
          <a:xfrm>
            <a:off x="6097811" y="2179270"/>
            <a:ext cx="179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Presentation Layer (FE)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CE7808-10FC-F15C-D90C-DA5AF67B852F}"/>
              </a:ext>
            </a:extLst>
          </p:cNvPr>
          <p:cNvSpPr txBox="1"/>
          <p:nvPr/>
        </p:nvSpPr>
        <p:spPr>
          <a:xfrm>
            <a:off x="6097811" y="2471665"/>
            <a:ext cx="2785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Application Layer Business Logic (BE)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BABE9D-7819-3F6E-2282-675F0495B65D}"/>
              </a:ext>
            </a:extLst>
          </p:cNvPr>
          <p:cNvSpPr txBox="1"/>
          <p:nvPr/>
        </p:nvSpPr>
        <p:spPr>
          <a:xfrm>
            <a:off x="6097811" y="2762374"/>
            <a:ext cx="1648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Persistence Layer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3DAB5B-C715-E6C2-282A-6D4F62D36C8A}"/>
              </a:ext>
            </a:extLst>
          </p:cNvPr>
          <p:cNvSpPr txBox="1"/>
          <p:nvPr/>
        </p:nvSpPr>
        <p:spPr>
          <a:xfrm>
            <a:off x="6119073" y="3058399"/>
            <a:ext cx="2626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RTC &amp; Channel Management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C180FF-EE2C-5540-AC7B-95B720630230}"/>
              </a:ext>
            </a:extLst>
          </p:cNvPr>
          <p:cNvSpPr txBox="1"/>
          <p:nvPr/>
        </p:nvSpPr>
        <p:spPr>
          <a:xfrm>
            <a:off x="6132749" y="3343792"/>
            <a:ext cx="2764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Reverse Proxy &amp; Static File Server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A858FE-2DA3-6D40-5618-77AB99E308C1}"/>
              </a:ext>
            </a:extLst>
          </p:cNvPr>
          <p:cNvSpPr txBox="1"/>
          <p:nvPr/>
        </p:nvSpPr>
        <p:spPr>
          <a:xfrm>
            <a:off x="6097811" y="3634501"/>
            <a:ext cx="1648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Containerization 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E571EF1D-CB68-581F-280E-289D49F85D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7570" y="2530935"/>
            <a:ext cx="201168" cy="201168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D69B360-4BF0-DF3F-0704-7AE5A7D833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5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45B3F-6865-5B1A-77E6-2C592B2F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36F73572-8E03-0A6B-E3CE-480BA7DE768A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Database Architecture &amp; Data Persistence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A88B81F6-432D-E93B-7CE3-E3291A793DBB}"/>
              </a:ext>
            </a:extLst>
          </p:cNvPr>
          <p:cNvSpPr/>
          <p:nvPr/>
        </p:nvSpPr>
        <p:spPr>
          <a:xfrm>
            <a:off x="1091831" y="431756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17B4F9-0CC7-6C9C-D0F9-1CCB63B7969F}"/>
              </a:ext>
            </a:extLst>
          </p:cNvPr>
          <p:cNvSpPr txBox="1"/>
          <p:nvPr/>
        </p:nvSpPr>
        <p:spPr>
          <a:xfrm>
            <a:off x="1247554" y="888956"/>
            <a:ext cx="47045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100" dirty="0">
                <a:solidFill>
                  <a:srgbClr val="4E392C">
                    <a:alpha val="70000"/>
                  </a:srgbClr>
                </a:solidFill>
                <a:latin typeface="Plus Jakarta Sans"/>
                <a:cs typeface="Plus Jakarta Sans"/>
              </a:rPr>
              <a:t>A robust data persistence layer was designed using PostgreSQL to manage and maintain all platform data</a:t>
            </a:r>
            <a:r>
              <a:rPr lang="en-US" sz="1200" dirty="0">
                <a:solidFill>
                  <a:srgbClr val="4E392C">
                    <a:alpha val="45000"/>
                  </a:srgbClr>
                </a:solidFill>
                <a:latin typeface="Plus Jakarta Sans"/>
                <a:cs typeface="Plus Jakarta Sans"/>
              </a:rPr>
              <a:t>.</a:t>
            </a:r>
            <a:endParaRPr lang="en-US" sz="1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AE981DA-C130-F1FA-FF14-A796FBC0D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7AD3B1-3608-F305-CBBE-EE5E291D184B}"/>
              </a:ext>
            </a:extLst>
          </p:cNvPr>
          <p:cNvSpPr/>
          <p:nvPr/>
        </p:nvSpPr>
        <p:spPr>
          <a:xfrm>
            <a:off x="1091831" y="1547036"/>
            <a:ext cx="7392949" cy="2781653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088A6-F999-46D8-06F2-2D21CFA5FA79}"/>
              </a:ext>
            </a:extLst>
          </p:cNvPr>
          <p:cNvSpPr txBox="1"/>
          <p:nvPr/>
        </p:nvSpPr>
        <p:spPr>
          <a:xfrm>
            <a:off x="1173126" y="1826336"/>
            <a:ext cx="537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Relationships between entities were carefully designed to ensure data integrity, consistency, and efficient retrieval of information across the platform.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A4D52-3E53-28BD-1C26-F9F947A080A9}"/>
              </a:ext>
            </a:extLst>
          </p:cNvPr>
          <p:cNvSpPr txBox="1"/>
          <p:nvPr/>
        </p:nvSpPr>
        <p:spPr>
          <a:xfrm>
            <a:off x="1173126" y="2361508"/>
            <a:ext cx="537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Django ORM was utilized to map application models to database tables, simplifying data access while maintaining database abstraction and consistency.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979A2-D5E1-45E0-6129-6853744BD361}"/>
              </a:ext>
            </a:extLst>
          </p:cNvPr>
          <p:cNvSpPr txBox="1"/>
          <p:nvPr/>
        </p:nvSpPr>
        <p:spPr>
          <a:xfrm>
            <a:off x="1173126" y="2872953"/>
            <a:ext cx="5376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To support production deployment, the database was hosted on Aiven, providing managed PostgreSQL services with secure access, automated maintenance, and high availability.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6A6298-EF48-0C5C-2954-45A129F6B6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131815" y="3692742"/>
            <a:ext cx="3191914" cy="5618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4065A7-82E9-ED1F-020D-8A35079E51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1247554" y="3790964"/>
            <a:ext cx="1869141" cy="4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1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1E748-87B0-9CFF-6E87-DEB661FE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E16753C-ECE2-5FC2-8403-86A72AA0D2C8}"/>
              </a:ext>
            </a:extLst>
          </p:cNvPr>
          <p:cNvSpPr/>
          <p:nvPr/>
        </p:nvSpPr>
        <p:spPr>
          <a:xfrm>
            <a:off x="1017621" y="2258756"/>
            <a:ext cx="7254727" cy="1521117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2CDF622-26A5-4735-79AA-D04EA2C39E23}"/>
              </a:ext>
            </a:extLst>
          </p:cNvPr>
          <p:cNvSpPr/>
          <p:nvPr/>
        </p:nvSpPr>
        <p:spPr>
          <a:xfrm>
            <a:off x="1049301" y="1106890"/>
            <a:ext cx="7254727" cy="942474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0DA9DA11-9086-0C5C-6E41-50C0B9711AE6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Authentication &amp; User Management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26072F67-A08C-9B7A-7568-887A8223ED61}"/>
              </a:ext>
            </a:extLst>
          </p:cNvPr>
          <p:cNvSpPr/>
          <p:nvPr/>
        </p:nvSpPr>
        <p:spPr>
          <a:xfrm>
            <a:off x="1086737" y="433726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1CFC1-F0F9-968C-4EEC-136321721C85}"/>
              </a:ext>
            </a:extLst>
          </p:cNvPr>
          <p:cNvSpPr txBox="1"/>
          <p:nvPr/>
        </p:nvSpPr>
        <p:spPr>
          <a:xfrm>
            <a:off x="1098697" y="1199084"/>
            <a:ext cx="7332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A complete authentication and authorization system was implemented to support two distinct user roles: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995103-7F11-F696-B33F-CD09B89C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36" y="1514967"/>
            <a:ext cx="356666" cy="356666"/>
          </a:xfrm>
          <a:prstGeom prst="rect">
            <a:avLst/>
          </a:prstGeom>
          <a:ln>
            <a:solidFill>
              <a:srgbClr val="F4DED8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D5FEE3-92DC-7FE5-A1E4-98A4B99E8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422" y="1515017"/>
            <a:ext cx="356616" cy="356616"/>
          </a:xfrm>
          <a:prstGeom prst="rect">
            <a:avLst/>
          </a:prstGeom>
          <a:ln>
            <a:solidFill>
              <a:srgbClr val="F4DED8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68025F-7939-6AF0-20A7-9B91C8E8D737}"/>
              </a:ext>
            </a:extLst>
          </p:cNvPr>
          <p:cNvSpPr txBox="1"/>
          <p:nvPr/>
        </p:nvSpPr>
        <p:spPr>
          <a:xfrm>
            <a:off x="1731156" y="1578127"/>
            <a:ext cx="13556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Pet Owners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52E4D8-35B8-8503-9163-49462D27EEA4}"/>
              </a:ext>
            </a:extLst>
          </p:cNvPr>
          <p:cNvSpPr txBox="1"/>
          <p:nvPr/>
        </p:nvSpPr>
        <p:spPr>
          <a:xfrm>
            <a:off x="4514089" y="1578127"/>
            <a:ext cx="9723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Veterinarians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464238-AA8C-DF5A-616F-BDF62284CDCE}"/>
              </a:ext>
            </a:extLst>
          </p:cNvPr>
          <p:cNvSpPr txBox="1"/>
          <p:nvPr/>
        </p:nvSpPr>
        <p:spPr>
          <a:xfrm>
            <a:off x="1098697" y="2313730"/>
            <a:ext cx="1851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Key functionality includes: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BC054-FC39-8B24-702A-7298AD6CF234}"/>
              </a:ext>
            </a:extLst>
          </p:cNvPr>
          <p:cNvSpPr txBox="1"/>
          <p:nvPr/>
        </p:nvSpPr>
        <p:spPr>
          <a:xfrm>
            <a:off x="1979924" y="2729994"/>
            <a:ext cx="19847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Secure account registration.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6B231D-9CB7-E956-9116-182523E87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956" y="2732673"/>
            <a:ext cx="274320" cy="2743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1774F0F-D7C4-D2A5-2552-B9DC93CB4A60}"/>
              </a:ext>
            </a:extLst>
          </p:cNvPr>
          <p:cNvSpPr txBox="1"/>
          <p:nvPr/>
        </p:nvSpPr>
        <p:spPr>
          <a:xfrm>
            <a:off x="5059146" y="2729994"/>
            <a:ext cx="28036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Email verification and account activation.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8FEF521-411C-2D9C-5922-7E907E721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424" y="2732673"/>
            <a:ext cx="274320" cy="27432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C6F7173-23DD-224B-34C7-9193A16B221D}"/>
              </a:ext>
            </a:extLst>
          </p:cNvPr>
          <p:cNvSpPr txBox="1"/>
          <p:nvPr/>
        </p:nvSpPr>
        <p:spPr>
          <a:xfrm>
            <a:off x="1981479" y="3144214"/>
            <a:ext cx="1983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JWT-based authentication.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557004-3E8D-C03D-E018-5898B9BB2254}"/>
              </a:ext>
            </a:extLst>
          </p:cNvPr>
          <p:cNvSpPr txBox="1"/>
          <p:nvPr/>
        </p:nvSpPr>
        <p:spPr>
          <a:xfrm>
            <a:off x="5059146" y="3144214"/>
            <a:ext cx="1983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Role-based access control.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019F47-F2F5-3CF5-ADE2-477374F00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956" y="3146893"/>
            <a:ext cx="274320" cy="274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94F1276-8021-BE58-A1AD-A39987D57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424" y="3146893"/>
            <a:ext cx="274320" cy="27432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F9B922-2B7C-C509-A122-50A8FAFC60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A98D5A7-49AD-76E9-B5F9-5534958A14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059" y="1532053"/>
            <a:ext cx="356616" cy="356616"/>
          </a:xfrm>
          <a:prstGeom prst="rect">
            <a:avLst/>
          </a:prstGeom>
          <a:ln>
            <a:solidFill>
              <a:srgbClr val="F4DED8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09E5B0B-25D0-4D0D-E1E2-252D30B72712}"/>
              </a:ext>
            </a:extLst>
          </p:cNvPr>
          <p:cNvSpPr txBox="1"/>
          <p:nvPr/>
        </p:nvSpPr>
        <p:spPr>
          <a:xfrm>
            <a:off x="6585666" y="1578127"/>
            <a:ext cx="9723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2">
                    <a:lumMod val="75000"/>
                  </a:schemeClr>
                </a:solidFill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927104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73412-69DB-3EE6-C3B2-901245DE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89" y="24082"/>
            <a:ext cx="7669539" cy="5119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8BC955-F691-BA56-A1EB-59E6C6A9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5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FB78F-7D08-846F-6843-9E765A02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CF72EDA-A618-3B7B-9D72-6841544C55F9}"/>
              </a:ext>
            </a:extLst>
          </p:cNvPr>
          <p:cNvSpPr/>
          <p:nvPr/>
        </p:nvSpPr>
        <p:spPr>
          <a:xfrm>
            <a:off x="1017621" y="1213338"/>
            <a:ext cx="7254727" cy="2635648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1196C66A-7441-EE13-A950-777EB9B46D39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Payment Integration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4E2677BD-A521-6924-17FD-27FD0A209E70}"/>
              </a:ext>
            </a:extLst>
          </p:cNvPr>
          <p:cNvSpPr/>
          <p:nvPr/>
        </p:nvSpPr>
        <p:spPr>
          <a:xfrm>
            <a:off x="1102686" y="439043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B3F7D-EE3E-56B1-AC0F-493BC17F3E08}"/>
              </a:ext>
            </a:extLst>
          </p:cNvPr>
          <p:cNvSpPr txBox="1"/>
          <p:nvPr/>
        </p:nvSpPr>
        <p:spPr>
          <a:xfrm>
            <a:off x="1173126" y="1468168"/>
            <a:ext cx="4704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The platform integrates the </a:t>
            </a:r>
            <a:r>
              <a:rPr lang="en-US" sz="1200" dirty="0" err="1"/>
              <a:t>Moyasar</a:t>
            </a:r>
            <a:r>
              <a:rPr lang="en-US" sz="1200" dirty="0"/>
              <a:t> Payment Gateway to support secure online transactions.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ED4433E-A972-1C73-96AC-A6CE0B2F5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1F368E-26DC-48CD-A3A8-07E24B77C70F}"/>
              </a:ext>
            </a:extLst>
          </p:cNvPr>
          <p:cNvSpPr txBox="1"/>
          <p:nvPr/>
        </p:nvSpPr>
        <p:spPr>
          <a:xfrm>
            <a:off x="1173126" y="2060253"/>
            <a:ext cx="4704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Secure payment processing.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Appointment-payment association.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Payment status verification.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Automatic booking confirmation after successful payment.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7506EE-92A6-819A-D4F2-68DA11BF53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8000"/>
          </a:blip>
          <a:stretch>
            <a:fillRect/>
          </a:stretch>
        </p:blipFill>
        <p:spPr>
          <a:xfrm>
            <a:off x="6795398" y="3296916"/>
            <a:ext cx="480846" cy="480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A11615-CD3D-12C8-13D1-F234AF97E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4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0768" y="1320074"/>
            <a:ext cx="1870106" cy="1870106"/>
          </a:xfrm>
          <a:prstGeom prst="rect">
            <a:avLst/>
          </a:prstGeom>
          <a:effectLst>
            <a:outerShdw blurRad="25400" dist="38100" dir="189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7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CA662-E34B-378F-A1F9-9D7B8782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B6E85D2-65AB-38CD-D67D-ECF61DF7CFE0}"/>
              </a:ext>
            </a:extLst>
          </p:cNvPr>
          <p:cNvSpPr/>
          <p:nvPr/>
        </p:nvSpPr>
        <p:spPr>
          <a:xfrm>
            <a:off x="1017621" y="1213338"/>
            <a:ext cx="7254727" cy="2635648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4FDB95F6-2C3B-846D-8B72-EF76319637A9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Email Automation System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4A14CF15-43CF-3598-F87E-7A7C51DBC70E}"/>
              </a:ext>
            </a:extLst>
          </p:cNvPr>
          <p:cNvSpPr/>
          <p:nvPr/>
        </p:nvSpPr>
        <p:spPr>
          <a:xfrm>
            <a:off x="1049301" y="412618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DA3A7C-93E1-B503-3EA1-FF4A2BD813C6}"/>
              </a:ext>
            </a:extLst>
          </p:cNvPr>
          <p:cNvSpPr txBox="1"/>
          <p:nvPr/>
        </p:nvSpPr>
        <p:spPr>
          <a:xfrm>
            <a:off x="1173126" y="1468168"/>
            <a:ext cx="4704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Automated email services were integrated using Resend and Django </a:t>
            </a:r>
            <a:r>
              <a:rPr lang="en-US" sz="1200" dirty="0" err="1"/>
              <a:t>Anymail</a:t>
            </a:r>
            <a:r>
              <a:rPr lang="en-US" sz="1200" dirty="0"/>
              <a:t>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6F5CF56-B714-9938-78BA-09335B5D9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56EF4A-0616-AE57-84E9-F0265462822B}"/>
              </a:ext>
            </a:extLst>
          </p:cNvPr>
          <p:cNvSpPr txBox="1"/>
          <p:nvPr/>
        </p:nvSpPr>
        <p:spPr>
          <a:xfrm>
            <a:off x="1173126" y="2060253"/>
            <a:ext cx="47045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Secure payment processing.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Appointment-payment association.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Payment status verification.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Automatic booking confirmation after successful payment.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40173-2AD3-8513-9FF2-F05EC8FEE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751" y="3275024"/>
            <a:ext cx="1911355" cy="40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8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66DF1-EE08-608A-3080-BD228E71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C48A4B8-CBDB-1F60-F01A-5BA095FDCE08}"/>
              </a:ext>
            </a:extLst>
          </p:cNvPr>
          <p:cNvSpPr/>
          <p:nvPr/>
        </p:nvSpPr>
        <p:spPr>
          <a:xfrm>
            <a:off x="1017621" y="1213338"/>
            <a:ext cx="7254727" cy="2635648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EBF83F04-C507-6196-5E6F-B1456270CC99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dirty="0"/>
              <a:t>Containerization &amp; Infrastructure Engineering</a:t>
            </a:r>
            <a:endParaRPr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8025946D-47DC-6508-A7E1-DF21CF0E708E}"/>
              </a:ext>
            </a:extLst>
          </p:cNvPr>
          <p:cNvSpPr/>
          <p:nvPr/>
        </p:nvSpPr>
        <p:spPr>
          <a:xfrm>
            <a:off x="1074547" y="431756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50A4B-88BD-DAA3-1789-E32DE0062AE6}"/>
              </a:ext>
            </a:extLst>
          </p:cNvPr>
          <p:cNvSpPr txBox="1"/>
          <p:nvPr/>
        </p:nvSpPr>
        <p:spPr>
          <a:xfrm>
            <a:off x="1173126" y="1468168"/>
            <a:ext cx="4704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Separate containers were configured for: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C89B92F-8105-BAD8-3D4B-FD23339DD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F5895F-62BD-3F9D-2898-16B6BABD1734}"/>
              </a:ext>
            </a:extLst>
          </p:cNvPr>
          <p:cNvSpPr txBox="1"/>
          <p:nvPr/>
        </p:nvSpPr>
        <p:spPr>
          <a:xfrm>
            <a:off x="1380461" y="1682797"/>
            <a:ext cx="2404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Django Backend.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Nginx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RedisCoturn</a:t>
            </a:r>
            <a:r>
              <a:rPr lang="en-US" sz="1200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TURN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CA0B2-606F-C691-ED1D-53A94FFA55A7}"/>
              </a:ext>
            </a:extLst>
          </p:cNvPr>
          <p:cNvSpPr txBox="1"/>
          <p:nvPr/>
        </p:nvSpPr>
        <p:spPr>
          <a:xfrm>
            <a:off x="1311349" y="888956"/>
            <a:ext cx="47045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100" dirty="0">
                <a:solidFill>
                  <a:srgbClr val="4E392C">
                    <a:alpha val="70000"/>
                  </a:srgbClr>
                </a:solidFill>
                <a:latin typeface="Plus Jakarta Sans"/>
                <a:cs typeface="Plus Jakarta Sans"/>
              </a:rPr>
              <a:t>The entire application stack was containerized using Docker.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277B0-232E-8308-ACEB-4691B6351B7F}"/>
              </a:ext>
            </a:extLst>
          </p:cNvPr>
          <p:cNvSpPr txBox="1"/>
          <p:nvPr/>
        </p:nvSpPr>
        <p:spPr>
          <a:xfrm>
            <a:off x="1173125" y="2617567"/>
            <a:ext cx="6774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Docker Compose orchestrates communication between services through a dedicated internal network, ensuring consistent development, testing, and deployment environments.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6CC6E-60D3-F556-47BA-A84EAD14EC3A}"/>
              </a:ext>
            </a:extLst>
          </p:cNvPr>
          <p:cNvSpPr txBox="1"/>
          <p:nvPr/>
        </p:nvSpPr>
        <p:spPr>
          <a:xfrm>
            <a:off x="1173125" y="3105148"/>
            <a:ext cx="6774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This approach significantly simplifies deployment and infrastructure management.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AFC34E-3E26-83BF-8EA0-DA05A8055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765" y="1265449"/>
            <a:ext cx="2311126" cy="130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6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D49BB-54FA-B3A8-0C4F-1F675112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E52054D-3863-D0E6-E312-1B4C3328FB00}"/>
              </a:ext>
            </a:extLst>
          </p:cNvPr>
          <p:cNvSpPr/>
          <p:nvPr/>
        </p:nvSpPr>
        <p:spPr>
          <a:xfrm>
            <a:off x="1081416" y="1479152"/>
            <a:ext cx="3378942" cy="2848299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95851E40-A939-887B-7BFC-7A13D0ABE144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Testing &amp; Quality Assurance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FEDD2630-4139-0B6C-DA13-7FA28148415B}"/>
              </a:ext>
            </a:extLst>
          </p:cNvPr>
          <p:cNvSpPr/>
          <p:nvPr/>
        </p:nvSpPr>
        <p:spPr>
          <a:xfrm>
            <a:off x="1001676" y="396513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064CBB-CF83-0BFB-7946-AB03634475CA}"/>
              </a:ext>
            </a:extLst>
          </p:cNvPr>
          <p:cNvSpPr txBox="1"/>
          <p:nvPr/>
        </p:nvSpPr>
        <p:spPr>
          <a:xfrm>
            <a:off x="1279451" y="1723626"/>
            <a:ext cx="1298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Testing included: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42591CB-7C3F-F21B-633F-74C6F6D33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A9201-F67D-AF19-B34C-95E35E9C516E}"/>
              </a:ext>
            </a:extLst>
          </p:cNvPr>
          <p:cNvSpPr txBox="1"/>
          <p:nvPr/>
        </p:nvSpPr>
        <p:spPr>
          <a:xfrm>
            <a:off x="1380461" y="2042880"/>
            <a:ext cx="30426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API endpoint validation.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Authentication and authorization testing.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Business logic verification.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Database interaction testing.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Frontend component testing.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User interaction testing.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End to End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126BA-6AAD-50EB-2C4E-72025365C81B}"/>
              </a:ext>
            </a:extLst>
          </p:cNvPr>
          <p:cNvSpPr txBox="1"/>
          <p:nvPr/>
        </p:nvSpPr>
        <p:spPr>
          <a:xfrm>
            <a:off x="1173126" y="888956"/>
            <a:ext cx="47045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4E392C">
                    <a:alpha val="70000"/>
                  </a:srgbClr>
                </a:solidFill>
                <a:latin typeface="Plus Jakarta Sans"/>
                <a:cs typeface="Plus Jakarta Sans"/>
              </a:rPr>
              <a:t>To improve reliability and maintain code quality, automated testing was implemented across multiple layers of the system.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D3568B-EC54-1D12-41F9-A60FAE4FFB15}"/>
              </a:ext>
            </a:extLst>
          </p:cNvPr>
          <p:cNvSpPr/>
          <p:nvPr/>
        </p:nvSpPr>
        <p:spPr>
          <a:xfrm>
            <a:off x="4811673" y="1479153"/>
            <a:ext cx="3378942" cy="1524546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23C90-1884-ABFA-C3D6-42D2BF81520D}"/>
              </a:ext>
            </a:extLst>
          </p:cNvPr>
          <p:cNvSpPr txBox="1"/>
          <p:nvPr/>
        </p:nvSpPr>
        <p:spPr>
          <a:xfrm>
            <a:off x="4945912" y="1621996"/>
            <a:ext cx="1298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Tools used: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08F76-5A74-6881-2489-732DC10DA908}"/>
              </a:ext>
            </a:extLst>
          </p:cNvPr>
          <p:cNvSpPr txBox="1"/>
          <p:nvPr/>
        </p:nvSpPr>
        <p:spPr>
          <a:xfrm>
            <a:off x="5169196" y="1876580"/>
            <a:ext cx="33935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Pytest</a:t>
            </a:r>
            <a:r>
              <a:rPr lang="en-US" sz="1200" dirty="0"/>
              <a:t>-Django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Faker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Coverage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Vitest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React Testing Library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D31CFC-BE23-3E39-AEE3-38C597C74D08}"/>
              </a:ext>
            </a:extLst>
          </p:cNvPr>
          <p:cNvSpPr/>
          <p:nvPr/>
        </p:nvSpPr>
        <p:spPr>
          <a:xfrm>
            <a:off x="4774019" y="3071039"/>
            <a:ext cx="3378942" cy="1256413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B5C26-CBE7-879A-D319-3D19EBDEF00B}"/>
              </a:ext>
            </a:extLst>
          </p:cNvPr>
          <p:cNvSpPr txBox="1"/>
          <p:nvPr/>
        </p:nvSpPr>
        <p:spPr>
          <a:xfrm>
            <a:off x="4945912" y="3377105"/>
            <a:ext cx="3149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This testing strategy helped identify issues early and increased confidence in production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2472371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B7092-91F3-0A2E-B77C-252A3B5B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1D298B7-19C7-E13F-997C-4B0CE7B401AE}"/>
              </a:ext>
            </a:extLst>
          </p:cNvPr>
          <p:cNvSpPr/>
          <p:nvPr/>
        </p:nvSpPr>
        <p:spPr>
          <a:xfrm>
            <a:off x="910966" y="1573643"/>
            <a:ext cx="7254727" cy="2635648"/>
          </a:xfrm>
          <a:prstGeom prst="roundRect">
            <a:avLst>
              <a:gd name="adj" fmla="val 9683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8100" dist="635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104;p14">
            <a:extLst>
              <a:ext uri="{FF2B5EF4-FFF2-40B4-BE49-F238E27FC236}">
                <a16:creationId xmlns:a16="http://schemas.microsoft.com/office/drawing/2014/main" id="{B687C67D-2860-2748-9F9D-5595D352943D}"/>
              </a:ext>
            </a:extLst>
          </p:cNvPr>
          <p:cNvSpPr txBox="1"/>
          <p:nvPr/>
        </p:nvSpPr>
        <p:spPr>
          <a:xfrm>
            <a:off x="1173126" y="396513"/>
            <a:ext cx="1122140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200" b="1" dirty="0"/>
              <a:t>Deployment &amp; Production Environment</a:t>
            </a:r>
            <a:endParaRPr b="1" dirty="0"/>
          </a:p>
        </p:txBody>
      </p:sp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D0FFF780-C399-4443-09A1-733FF6517C67}"/>
              </a:ext>
            </a:extLst>
          </p:cNvPr>
          <p:cNvSpPr/>
          <p:nvPr/>
        </p:nvSpPr>
        <p:spPr>
          <a:xfrm>
            <a:off x="1072560" y="431756"/>
            <a:ext cx="47625" cy="45720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93780-461D-3791-5058-86F7D766177A}"/>
              </a:ext>
            </a:extLst>
          </p:cNvPr>
          <p:cNvSpPr txBox="1"/>
          <p:nvPr/>
        </p:nvSpPr>
        <p:spPr>
          <a:xfrm>
            <a:off x="1173126" y="1765879"/>
            <a:ext cx="4704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The platform was deployed using a cloud-based architecture: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37355BD-8300-662D-4B16-E94A2314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37904C-AC51-1CF9-5710-F691EF8490EE}"/>
              </a:ext>
            </a:extLst>
          </p:cNvPr>
          <p:cNvSpPr txBox="1"/>
          <p:nvPr/>
        </p:nvSpPr>
        <p:spPr>
          <a:xfrm>
            <a:off x="1380460" y="2001773"/>
            <a:ext cx="34148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Frontend deployed on </a:t>
            </a:r>
            <a:r>
              <a:rPr lang="en-US" sz="1200" dirty="0" err="1"/>
              <a:t>Vercel</a:t>
            </a:r>
            <a:r>
              <a:rPr lang="en-US" sz="1200" dirty="0"/>
              <a:t>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Backend deployed on Render.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PostgreSQL hosted on Aiven.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Nginx used for request routing and static asset delivery.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Redis used for real-time communication services.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Daphne ASGI Server used to support HTTP and WebSocket connections.</a:t>
            </a:r>
            <a:endParaRPr lang="ar-SA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4C879-E769-CD75-9DDB-E9225C2091EE}"/>
              </a:ext>
            </a:extLst>
          </p:cNvPr>
          <p:cNvSpPr txBox="1"/>
          <p:nvPr/>
        </p:nvSpPr>
        <p:spPr>
          <a:xfrm>
            <a:off x="1311349" y="968698"/>
            <a:ext cx="57965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100" dirty="0">
                <a:solidFill>
                  <a:srgbClr val="4E392C">
                    <a:alpha val="70000"/>
                  </a:srgbClr>
                </a:solidFill>
                <a:latin typeface="Plus Jakarta Sans"/>
                <a:cs typeface="Plus Jakarta Sans"/>
              </a:rPr>
              <a:t>The final production architecture supports secure communication, real-time consultations, scalable deployment, and reliable system performance.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528151-6EBA-04CF-8192-5CBFAD509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85" y="3756099"/>
            <a:ext cx="1068974" cy="241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FBA88E-5D58-8F00-3806-BB0B4D49B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153" y="3756099"/>
            <a:ext cx="1217272" cy="24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69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5D109-20E3-73D7-61F9-B3F348C1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13FC91-76CC-54EA-9D28-099ADB53E9AD}"/>
              </a:ext>
            </a:extLst>
          </p:cNvPr>
          <p:cNvSpPr/>
          <p:nvPr/>
        </p:nvSpPr>
        <p:spPr>
          <a:xfrm>
            <a:off x="0" y="0"/>
            <a:ext cx="2323215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3000">
                <a:srgbClr val="F5EDE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05A59D2-B0AE-AE49-35E6-BE20667C9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" y="67235"/>
            <a:ext cx="626008" cy="6260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30E1BA-04E7-8A11-E38E-315B4EB62C9E}"/>
              </a:ext>
            </a:extLst>
          </p:cNvPr>
          <p:cNvSpPr/>
          <p:nvPr/>
        </p:nvSpPr>
        <p:spPr>
          <a:xfrm flipH="1">
            <a:off x="6878146" y="0"/>
            <a:ext cx="2265853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3000">
                <a:srgbClr val="F5EDE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208D5-F255-1C94-20CD-45CA1C30A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681" y="0"/>
            <a:ext cx="3429000" cy="5143500"/>
          </a:xfrm>
          <a:prstGeom prst="rect">
            <a:avLst/>
          </a:prstGeom>
        </p:spPr>
      </p:pic>
      <p:sp>
        <p:nvSpPr>
          <p:cNvPr id="12" name="Google Shape;104;p14">
            <a:extLst>
              <a:ext uri="{FF2B5EF4-FFF2-40B4-BE49-F238E27FC236}">
                <a16:creationId xmlns:a16="http://schemas.microsoft.com/office/drawing/2014/main" id="{EE4DF77E-3126-60A6-BCF5-B6C8FC0F487A}"/>
              </a:ext>
            </a:extLst>
          </p:cNvPr>
          <p:cNvSpPr txBox="1"/>
          <p:nvPr/>
        </p:nvSpPr>
        <p:spPr>
          <a:xfrm>
            <a:off x="327838" y="1688369"/>
            <a:ext cx="253763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dirty="0"/>
              <a:t>Technical Architecture Summary</a:t>
            </a:r>
            <a:endParaRPr lang="en-US" sz="3200" dirty="0"/>
          </a:p>
        </p:txBody>
      </p:sp>
      <p:sp>
        <p:nvSpPr>
          <p:cNvPr id="14" name="Google Shape;105;p14">
            <a:extLst>
              <a:ext uri="{FF2B5EF4-FFF2-40B4-BE49-F238E27FC236}">
                <a16:creationId xmlns:a16="http://schemas.microsoft.com/office/drawing/2014/main" id="{288C84DC-33C1-1FD3-8858-7052AFB8EBC4}"/>
              </a:ext>
            </a:extLst>
          </p:cNvPr>
          <p:cNvSpPr/>
          <p:nvPr/>
        </p:nvSpPr>
        <p:spPr>
          <a:xfrm>
            <a:off x="227272" y="1782091"/>
            <a:ext cx="47625" cy="1285402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01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9612A"/>
          </a:solidFill>
          <a:ln w="127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</a:t>
            </a:r>
            <a:endParaRPr lang="en-US" sz="4400" dirty="0"/>
          </a:p>
        </p:txBody>
      </p:sp>
      <p:sp>
        <p:nvSpPr>
          <p:cNvPr id="40" name="Text 32"/>
          <p:cNvSpPr/>
          <p:nvPr/>
        </p:nvSpPr>
        <p:spPr>
          <a:xfrm>
            <a:off x="804672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</a:t>
            </a:r>
            <a:endParaRPr lang="en-US" sz="900" dirty="0"/>
          </a:p>
        </p:txBody>
      </p:sp>
      <p:pic>
        <p:nvPicPr>
          <p:cNvPr id="41" name="202606111955">
            <a:hlinkClick r:id="" action="ppaction://media"/>
            <a:extLst>
              <a:ext uri="{FF2B5EF4-FFF2-40B4-BE49-F238E27FC236}">
                <a16:creationId xmlns:a16="http://schemas.microsoft.com/office/drawing/2014/main" id="{D1F47D79-B4FC-A43A-941C-D74E9F6A17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1262813"/>
            <a:ext cx="7315200" cy="3668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677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video>
              <p:cMediaNode>
                <p:cTn id="12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-457200" y="2286000"/>
            <a:ext cx="3200400" cy="3200400"/>
          </a:xfrm>
          <a:prstGeom prst="ellipse">
            <a:avLst/>
          </a:prstGeom>
          <a:solidFill>
            <a:srgbClr val="F5EDE0">
              <a:alpha val="65000"/>
            </a:srgbClr>
          </a:solidFill>
          <a:ln w="12700">
            <a:solidFill>
              <a:srgbClr val="F5EDE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457200"/>
            <a:ext cx="2560320" cy="2560320"/>
          </a:xfrm>
          <a:prstGeom prst="ellipse">
            <a:avLst/>
          </a:prstGeom>
          <a:solidFill>
            <a:srgbClr val="E8A898">
              <a:alpha val="38000"/>
            </a:srgbClr>
          </a:solidFill>
          <a:ln w="12700">
            <a:solidFill>
              <a:srgbClr val="E8A89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005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3800" b="1" dirty="0">
                <a:solidFill>
                  <a:srgbClr val="C9612A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9748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9144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  <a:effectLst>
            <a:outerShdw blurRad="127000" dist="38100" dir="2700000" algn="bl" rotWithShape="0">
              <a:srgbClr val="2C181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0058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6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95160" y="1664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rauf.live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069080" cy="658368"/>
          </a:xfrm>
          <a:prstGeom prst="roundRect">
            <a:avLst>
              <a:gd name="adj" fmla="val 13889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</p:spPr>
        <p:txBody>
          <a:bodyPr/>
          <a:lstStyle/>
          <a:p>
            <a:r>
              <a:rPr lang="en-US" sz="1100" b="1" dirty="0"/>
              <a:t>Effective Team Collaboration</a:t>
            </a:r>
            <a:br>
              <a:rPr lang="en-US" sz="1100" dirty="0"/>
            </a:br>
            <a:r>
              <a:rPr lang="en-US" sz="1100" dirty="0"/>
              <a:t>Clear role separation and continuous collaboration improved development efficiency and accelerated problem-solving.</a:t>
            </a:r>
          </a:p>
        </p:txBody>
      </p:sp>
      <p:sp>
        <p:nvSpPr>
          <p:cNvPr id="20" name="Text 17"/>
          <p:cNvSpPr/>
          <p:nvPr/>
        </p:nvSpPr>
        <p:spPr>
          <a:xfrm>
            <a:off x="1115568" y="315468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46320" y="3063240"/>
            <a:ext cx="4069080" cy="658368"/>
          </a:xfrm>
          <a:prstGeom prst="roundRect">
            <a:avLst>
              <a:gd name="adj" fmla="val 13889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</p:spPr>
        <p:txBody>
          <a:bodyPr/>
          <a:lstStyle/>
          <a:p>
            <a:r>
              <a:rPr lang="en-US" sz="1000" b="1" dirty="0"/>
              <a:t>Adapting to New Technologies</a:t>
            </a:r>
            <a:br>
              <a:rPr lang="en-US" sz="1000" dirty="0"/>
            </a:br>
            <a:r>
              <a:rPr lang="en-US" sz="1000" dirty="0"/>
              <a:t>Working with WebRTC, </a:t>
            </a:r>
            <a:r>
              <a:rPr lang="en-US" sz="1000" dirty="0" err="1"/>
              <a:t>WebSockets</a:t>
            </a:r>
            <a:r>
              <a:rPr lang="en-US" sz="1000" dirty="0"/>
              <a:t>, cloud services, and payment integrations strengthened our ability to learn and apply new technologies.</a:t>
            </a:r>
          </a:p>
        </p:txBody>
      </p:sp>
      <p:sp>
        <p:nvSpPr>
          <p:cNvPr id="23" name="Text 19"/>
          <p:cNvSpPr/>
          <p:nvPr/>
        </p:nvSpPr>
        <p:spPr>
          <a:xfrm>
            <a:off x="5504688" y="315468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7200" y="3886200"/>
            <a:ext cx="4069080" cy="658368"/>
          </a:xfrm>
          <a:prstGeom prst="roundRect">
            <a:avLst>
              <a:gd name="adj" fmla="val 13889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</p:spPr>
        <p:txBody>
          <a:bodyPr/>
          <a:lstStyle/>
          <a:p>
            <a:r>
              <a:rPr lang="en-US" sz="1100" b="1" dirty="0"/>
              <a:t>Building Reliable Systems</a:t>
            </a:r>
            <a:br>
              <a:rPr lang="en-US" sz="1100" dirty="0"/>
            </a:br>
            <a:r>
              <a:rPr lang="en-US" sz="1100" dirty="0"/>
              <a:t>Implementing secure payment processing and stable real-time communication enhanced the system's reliability and performance.</a:t>
            </a:r>
          </a:p>
        </p:txBody>
      </p:sp>
      <p:sp>
        <p:nvSpPr>
          <p:cNvPr id="26" name="Text 21"/>
          <p:cNvSpPr/>
          <p:nvPr/>
        </p:nvSpPr>
        <p:spPr>
          <a:xfrm>
            <a:off x="1115568" y="397764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846320" y="3886200"/>
            <a:ext cx="4069080" cy="658368"/>
          </a:xfrm>
          <a:prstGeom prst="roundRect">
            <a:avLst>
              <a:gd name="adj" fmla="val 13889"/>
            </a:avLst>
          </a:prstGeom>
          <a:solidFill>
            <a:srgbClr val="F5EDE0"/>
          </a:solidFill>
          <a:ln w="12700">
            <a:solidFill>
              <a:srgbClr val="E8D5C0"/>
            </a:solidFill>
            <a:prstDash val="solid"/>
          </a:ln>
        </p:spPr>
        <p:txBody>
          <a:bodyPr/>
          <a:lstStyle/>
          <a:p>
            <a:r>
              <a:rPr lang="en-US" sz="1050" b="1" dirty="0"/>
              <a:t>Professional Growth</a:t>
            </a:r>
            <a:br>
              <a:rPr lang="en-US" sz="1050" dirty="0"/>
            </a:br>
            <a:r>
              <a:rPr lang="en-US" sz="1050" dirty="0"/>
              <a:t>The project provided practical experience in full-stack development, deployment, testing, and delivering a production-ready application.</a:t>
            </a:r>
          </a:p>
        </p:txBody>
      </p:sp>
      <p:sp>
        <p:nvSpPr>
          <p:cNvPr id="29" name="Text 23"/>
          <p:cNvSpPr/>
          <p:nvPr/>
        </p:nvSpPr>
        <p:spPr>
          <a:xfrm>
            <a:off x="5504688" y="397764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046720" y="4846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9612A">
              <a:alpha val="18000"/>
            </a:srgbClr>
          </a:solidFill>
          <a:ln w="12700">
            <a:solidFill>
              <a:srgbClr val="C9612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E8A898">
              <a:alpha val="20000"/>
            </a:srgbClr>
          </a:solidFill>
          <a:ln w="12700">
            <a:solidFill>
              <a:srgbClr val="E8A89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0" y="1353312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2011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Veterinary Consultation — Built for the Arab World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26080" y="2578608"/>
            <a:ext cx="3291840" cy="0"/>
          </a:xfrm>
          <a:prstGeom prst="line">
            <a:avLst/>
          </a:prstGeom>
          <a:noFill/>
          <a:ln w="25400">
            <a:solidFill>
              <a:srgbClr val="C96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0" y="2788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94429" y="290321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286000" y="326440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FFFFFF"/>
                </a:solidFill>
              </a:rPr>
              <a:t>Store Section</a:t>
            </a:r>
            <a:br>
              <a:rPr lang="en-US" sz="1200" dirty="0"/>
            </a:b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286000" y="39410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393576" y="3524071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iOS &amp; Android mobile apps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926080" y="4617720"/>
            <a:ext cx="3291840" cy="0"/>
          </a:xfrm>
          <a:prstGeom prst="line">
            <a:avLst/>
          </a:prstGeom>
          <a:noFill/>
          <a:ln w="12700">
            <a:solidFill>
              <a:srgbClr val="5A3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Holberton School  ·  Graduation Project 2026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EE0336F-4CBD-4942-F12C-64B300C99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324" y="414325"/>
            <a:ext cx="1457352" cy="1457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901</Words>
  <Application>Microsoft Office PowerPoint</Application>
  <PresentationFormat>On-screen Show (16:9)</PresentationFormat>
  <Paragraphs>163</Paragraphs>
  <Slides>17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Cambria</vt:lpstr>
      <vt:lpstr>Plus Jakarta Sans</vt:lpstr>
      <vt:lpstr>Plus Jakarta Sans Medium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Raouf – Graduation Presentation</dc:title>
  <dc:subject>PptxGenJS Presentation</dc:subject>
  <dc:creator>PptxGenJS</dc:creator>
  <cp:lastModifiedBy>Alanoud Mohsen</cp:lastModifiedBy>
  <cp:revision>12</cp:revision>
  <dcterms:created xsi:type="dcterms:W3CDTF">2026-06-09T18:23:06Z</dcterms:created>
  <dcterms:modified xsi:type="dcterms:W3CDTF">2026-06-11T20:56:16Z</dcterms:modified>
</cp:coreProperties>
</file>